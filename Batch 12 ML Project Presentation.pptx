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153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6031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logo_big.jpg"/>
          <p:cNvPicPr>
            <a:picLocks noChangeAspect="1"/>
          </p:cNvPicPr>
          <p:nvPr/>
        </p:nvPicPr>
        <p:blipFill>
          <a:blip r:embed="rId3"/>
          <a:stretch>
            <a:fillRect/>
          </a:stretch>
        </p:blipFill>
        <p:spPr>
          <a:xfrm>
            <a:off x="2651760" y="182880"/>
            <a:ext cx="4572000" cy="590702"/>
          </a:xfrm>
          <a:prstGeom prst="rect">
            <a:avLst/>
          </a:prstGeom>
        </p:spPr>
      </p:pic>
      <p:sp>
        <p:nvSpPr>
          <p:cNvPr id="3" name="Text 0"/>
          <p:cNvSpPr txBox="1"/>
          <p:nvPr/>
        </p:nvSpPr>
        <p:spPr>
          <a:xfrm>
            <a:off x="914399" y="1280160"/>
            <a:ext cx="8468139" cy="4484536"/>
          </a:xfrm>
          <a:prstGeom prst="rect">
            <a:avLst/>
          </a:prstGeom>
          <a:noFill/>
          <a:ln/>
        </p:spPr>
        <p:txBody>
          <a:bodyPr wrap="square" lIns="0" tIns="0" rIns="0" bIns="0" rtlCol="0" anchor="ctr"/>
          <a:lstStyle/>
          <a:p>
            <a:pPr marL="0" indent="0" algn="ctr">
              <a:buNone/>
            </a:pPr>
            <a:endParaRPr lang="en-US" sz="2400" dirty="0"/>
          </a:p>
        </p:txBody>
      </p:sp>
      <p:sp>
        <p:nvSpPr>
          <p:cNvPr id="4" name="Text 1"/>
          <p:cNvSpPr txBox="1"/>
          <p:nvPr/>
        </p:nvSpPr>
        <p:spPr>
          <a:xfrm>
            <a:off x="914400" y="2743200"/>
            <a:ext cx="8229600" cy="548640"/>
          </a:xfrm>
          <a:prstGeom prst="rect">
            <a:avLst/>
          </a:prstGeom>
          <a:noFill/>
          <a:ln/>
        </p:spPr>
        <p:txBody>
          <a:bodyPr wrap="square" lIns="0" tIns="0" rIns="0" bIns="0" rtlCol="0" anchor="ctr"/>
          <a:lstStyle/>
          <a:p>
            <a:pPr marL="0" indent="0" algn="ctr">
              <a:buNone/>
            </a:pPr>
            <a:endParaRPr lang="en-US" sz="2400" dirty="0"/>
          </a:p>
        </p:txBody>
      </p:sp>
      <p:sp>
        <p:nvSpPr>
          <p:cNvPr id="5" name="Text 2"/>
          <p:cNvSpPr txBox="1"/>
          <p:nvPr/>
        </p:nvSpPr>
        <p:spPr>
          <a:xfrm>
            <a:off x="914400" y="1450428"/>
            <a:ext cx="8229600" cy="2572932"/>
          </a:xfrm>
          <a:prstGeom prst="rect">
            <a:avLst/>
          </a:prstGeom>
          <a:noFill/>
          <a:ln/>
        </p:spPr>
        <p:txBody>
          <a:bodyPr wrap="square" lIns="0" tIns="0" rIns="0" bIns="0" rtlCol="0" anchor="ctr"/>
          <a:lstStyle/>
          <a:p>
            <a:pPr algn="ctr"/>
            <a:endParaRPr lang="en-US" sz="2400" b="1" dirty="0">
              <a:solidFill>
                <a:srgbClr val="009900"/>
              </a:solidFill>
              <a:latin typeface="Book Antiqua" panose="02040602050305030304" pitchFamily="18" charset="0"/>
              <a:cs typeface="Times New Roman" panose="02020603050405020304" pitchFamily="18" charset="0"/>
            </a:endParaRPr>
          </a:p>
          <a:p>
            <a:pPr algn="ctr"/>
            <a:endParaRPr lang="en-US" sz="2400" b="1" dirty="0">
              <a:solidFill>
                <a:srgbClr val="009900"/>
              </a:solidFill>
              <a:latin typeface="Book Antiqua" panose="02040602050305030304" pitchFamily="18" charset="0"/>
              <a:cs typeface="Times New Roman" panose="02020603050405020304" pitchFamily="18" charset="0"/>
            </a:endParaRPr>
          </a:p>
          <a:p>
            <a:pPr algn="ctr"/>
            <a:r>
              <a:rPr lang="en-US" sz="2400" b="1" dirty="0">
                <a:solidFill>
                  <a:srgbClr val="00B0F0"/>
                </a:solidFill>
                <a:latin typeface="Book Antiqua" panose="02040602050305030304" pitchFamily="18" charset="0"/>
                <a:cs typeface="Times New Roman" panose="02020603050405020304" pitchFamily="18" charset="0"/>
              </a:rPr>
              <a:t>ML Project Review </a:t>
            </a:r>
          </a:p>
          <a:p>
            <a:pPr algn="ctr"/>
            <a:endParaRPr lang="en-US" sz="2400" b="1" dirty="0">
              <a:solidFill>
                <a:srgbClr val="3D358B"/>
              </a:solidFill>
              <a:latin typeface="Times New Roman" panose="02020603050405020304" pitchFamily="18" charset="0"/>
              <a:cs typeface="Times New Roman" panose="02020603050405020304" pitchFamily="18" charset="0"/>
            </a:endParaRPr>
          </a:p>
          <a:p>
            <a:pPr algn="ctr"/>
            <a:r>
              <a:rPr lang="en-US" sz="3600" b="1" dirty="0">
                <a:solidFill>
                  <a:srgbClr val="3D358B"/>
                </a:solidFill>
              </a:rPr>
              <a:t>Smart Disease Prediction System with Model Ensemble</a:t>
            </a:r>
          </a:p>
          <a:p>
            <a:pPr algn="ctr"/>
            <a:endParaRPr lang="en-US" sz="1200" b="1" dirty="0">
              <a:solidFill>
                <a:schemeClr val="accent2">
                  <a:lumMod val="75000"/>
                </a:schemeClr>
              </a:solidFill>
              <a:latin typeface="Book Antiqua" panose="02040602050305030304" pitchFamily="18" charset="0"/>
              <a:cs typeface="Times New Roman" panose="02020603050405020304" pitchFamily="18" charset="0"/>
            </a:endParaRPr>
          </a:p>
          <a:p>
            <a:pPr algn="ctr"/>
            <a:endParaRPr lang="en-US" sz="2400" b="1" u="sng" dirty="0">
              <a:solidFill>
                <a:srgbClr val="C00000"/>
              </a:solidFill>
              <a:latin typeface="Times New Roman" panose="02020603050405020304" pitchFamily="18" charset="0"/>
              <a:cs typeface="Times New Roman" panose="02020603050405020304" pitchFamily="18" charset="0"/>
            </a:endParaRPr>
          </a:p>
          <a:p>
            <a:pPr algn="ctr"/>
            <a:r>
              <a:rPr lang="en-US" sz="2000" b="1" u="sng" dirty="0">
                <a:solidFill>
                  <a:srgbClr val="C00000"/>
                </a:solidFill>
                <a:latin typeface="Times New Roman" panose="02020603050405020304" pitchFamily="18" charset="0"/>
                <a:cs typeface="Times New Roman" panose="02020603050405020304" pitchFamily="18" charset="0"/>
              </a:rPr>
              <a:t>Presented by</a:t>
            </a:r>
          </a:p>
          <a:p>
            <a:pPr algn="ctr"/>
            <a:r>
              <a:rPr lang="en-US" sz="2000" b="1" dirty="0">
                <a:solidFill>
                  <a:schemeClr val="accent2">
                    <a:lumMod val="75000"/>
                  </a:schemeClr>
                </a:solidFill>
                <a:latin typeface="Times New Roman" panose="02020603050405020304" pitchFamily="18" charset="0"/>
                <a:cs typeface="Times New Roman" panose="02020603050405020304" pitchFamily="18" charset="0"/>
              </a:rPr>
              <a:t>Mr. CH. Sasi Kanth(24B11CS071)</a:t>
            </a:r>
          </a:p>
          <a:p>
            <a:pPr algn="ctr"/>
            <a:r>
              <a:rPr lang="en-US" sz="2000" b="1" dirty="0">
                <a:solidFill>
                  <a:schemeClr val="accent2">
                    <a:lumMod val="75000"/>
                  </a:schemeClr>
                </a:solidFill>
                <a:latin typeface="Times New Roman" panose="02020603050405020304" pitchFamily="18" charset="0"/>
                <a:cs typeface="Times New Roman" panose="02020603050405020304" pitchFamily="18" charset="0"/>
              </a:rPr>
              <a:t>         Mr. L. Krishna Manohar(24B11CS250)</a:t>
            </a:r>
          </a:p>
          <a:p>
            <a:pPr algn="ctr"/>
            <a:r>
              <a:rPr lang="en-US" sz="2000" b="1" dirty="0">
                <a:solidFill>
                  <a:schemeClr val="accent2">
                    <a:lumMod val="75000"/>
                  </a:schemeClr>
                </a:solidFill>
                <a:latin typeface="Times New Roman" panose="02020603050405020304" pitchFamily="18" charset="0"/>
                <a:cs typeface="Times New Roman" panose="02020603050405020304" pitchFamily="18" charset="0"/>
              </a:rPr>
              <a:t> Mr. T. Vijay Kumar(24B11CS429)           </a:t>
            </a:r>
          </a:p>
          <a:p>
            <a:pPr algn="ctr"/>
            <a:r>
              <a:rPr lang="en-US" sz="2000" b="1" dirty="0">
                <a:solidFill>
                  <a:schemeClr val="accent2">
                    <a:lumMod val="75000"/>
                  </a:schemeClr>
                </a:solidFill>
                <a:latin typeface="Times New Roman" panose="02020603050405020304" pitchFamily="18" charset="0"/>
                <a:cs typeface="Times New Roman" panose="02020603050405020304" pitchFamily="18" charset="0"/>
              </a:rPr>
              <a:t>Mr. T. Venkatesh(24B11CS443</a:t>
            </a:r>
            <a:r>
              <a:rPr lang="en-US" sz="2000" b="1" dirty="0">
                <a:solidFill>
                  <a:schemeClr val="accent2">
                    <a:lumMod val="75000"/>
                  </a:schemeClr>
                </a:solidFill>
                <a:latin typeface="Book Antiqua" panose="02040602050305030304" pitchFamily="18" charset="0"/>
                <a:cs typeface="Times New Roman" panose="02020603050405020304" pitchFamily="18" charset="0"/>
              </a:rPr>
              <a:t>)</a:t>
            </a:r>
          </a:p>
          <a:p>
            <a:pPr algn="ctr"/>
            <a:endParaRPr lang="en-US" sz="1200" dirty="0">
              <a:latin typeface="Centaur" panose="02030504050205020304" pitchFamily="18" charset="0"/>
              <a:cs typeface="Times New Roman" panose="02020603050405020304" pitchFamily="18" charset="0"/>
            </a:endParaRPr>
          </a:p>
        </p:txBody>
      </p:sp>
      <p:sp>
        <p:nvSpPr>
          <p:cNvPr id="6" name="Text 3"/>
          <p:cNvSpPr txBox="1"/>
          <p:nvPr/>
        </p:nvSpPr>
        <p:spPr>
          <a:xfrm>
            <a:off x="2743200" y="4114800"/>
            <a:ext cx="4572000" cy="1463040"/>
          </a:xfrm>
          <a:prstGeom prst="rect">
            <a:avLst/>
          </a:prstGeom>
          <a:noFill/>
          <a:ln/>
        </p:spPr>
        <p:txBody>
          <a:bodyPr wrap="square" lIns="0" tIns="0" rIns="0" bIns="0" rtlCol="0" anchor="t"/>
          <a:lstStyle/>
          <a:p>
            <a:pPr marL="0" indent="0" algn="l">
              <a:spcAft>
                <a:spcPts val="400"/>
              </a:spcAft>
              <a:buNone/>
            </a:pPr>
            <a:endParaRPr lang="en-US" sz="2000" dirty="0"/>
          </a:p>
        </p:txBody>
      </p:sp>
      <p:sp>
        <p:nvSpPr>
          <p:cNvPr id="7" name="Text 4"/>
          <p:cNvSpPr txBox="1"/>
          <p:nvPr/>
        </p:nvSpPr>
        <p:spPr>
          <a:xfrm>
            <a:off x="914400" y="6126480"/>
            <a:ext cx="8229600" cy="457200"/>
          </a:xfrm>
          <a:prstGeom prst="rect">
            <a:avLst/>
          </a:prstGeom>
          <a:noFill/>
          <a:ln/>
        </p:spPr>
        <p:txBody>
          <a:bodyPr wrap="square" lIns="0" tIns="0" rIns="0" bIns="0" rtlCol="0" anchor="ctr"/>
          <a:lstStyle/>
          <a:p>
            <a:pPr marL="0" indent="0" algn="ctr">
              <a:buNone/>
            </a:pPr>
            <a:r>
              <a:rPr lang="en-US" sz="2200" b="1" dirty="0">
                <a:solidFill>
                  <a:srgbClr val="0070C0"/>
                </a:solidFill>
                <a:latin typeface="Times New Roman" pitchFamily="34" charset="0"/>
                <a:ea typeface="Times New Roman" pitchFamily="34" charset="-122"/>
                <a:cs typeface="Times New Roman" pitchFamily="34" charset="-120"/>
              </a:rPr>
              <a:t>Department of Computer Science And Engineering</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INTRODUCTION</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Smart Disease Prediction System</a:t>
            </a:r>
            <a:r>
              <a:rPr lang="en-IN" sz="2000" dirty="0">
                <a:latin typeface="Times New Roman" panose="02020603050405020304" pitchFamily="18" charset="0"/>
                <a:cs typeface="Times New Roman" panose="02020603050405020304" pitchFamily="18" charset="0"/>
              </a:rPr>
              <a:t> is a machine learning-based application that predicts disease risk using patient health and lifestyle information.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Smart Analysis: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important health parameters such as age, blood pressure, glucose, cholesterol, BMI, smoking, physical activity, and medical history.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Machine Learning:</a:t>
            </a:r>
            <a:r>
              <a:rPr lang="en-IN" sz="2000" dirty="0">
                <a:latin typeface="Times New Roman" panose="02020603050405020304" pitchFamily="18" charset="0"/>
                <a:cs typeface="Times New Roman" panose="02020603050405020304" pitchFamily="18" charset="0"/>
              </a:rPr>
              <a:t> Uses trained classification models to identify patterns in patient data and generate disease-risk predictions.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Fast &amp; Simple:</a:t>
            </a:r>
            <a:r>
              <a:rPr lang="en-IN" sz="2000" dirty="0">
                <a:latin typeface="Times New Roman" panose="02020603050405020304" pitchFamily="18" charset="0"/>
                <a:cs typeface="Times New Roman" panose="02020603050405020304" pitchFamily="18" charset="0"/>
              </a:rPr>
              <a:t> Provides quick predictions based on the patient's health information. </a:t>
            </a:r>
          </a:p>
          <a:p>
            <a:pPr lvl="0"/>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Technology Stack:</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Language:</a:t>
            </a:r>
            <a:r>
              <a:rPr lang="en-IN" sz="2000" dirty="0">
                <a:latin typeface="Times New Roman" panose="02020603050405020304" pitchFamily="18" charset="0"/>
                <a:cs typeface="Times New Roman" panose="02020603050405020304" pitchFamily="18" charset="0"/>
              </a:rPr>
              <a:t> Python</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Libraries:</a:t>
            </a:r>
            <a:r>
              <a:rPr lang="en-IN" sz="2000" dirty="0">
                <a:latin typeface="Times New Roman" panose="02020603050405020304" pitchFamily="18" charset="0"/>
                <a:cs typeface="Times New Roman" panose="02020603050405020304" pitchFamily="18" charset="0"/>
              </a:rPr>
              <a:t> Pandas, Scikit-learn, Pickle</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Models:</a:t>
            </a:r>
            <a:r>
              <a:rPr lang="en-IN" sz="2000" dirty="0">
                <a:latin typeface="Times New Roman" panose="02020603050405020304" pitchFamily="18" charset="0"/>
                <a:cs typeface="Times New Roman" panose="02020603050405020304" pitchFamily="18" charset="0"/>
              </a:rPr>
              <a:t> Logistic Regression, Decision Tree, Random Forest</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Dataset:</a:t>
            </a:r>
            <a:r>
              <a:rPr lang="en-IN" sz="2000" dirty="0">
                <a:latin typeface="Times New Roman" panose="02020603050405020304" pitchFamily="18" charset="0"/>
                <a:cs typeface="Times New Roman" panose="02020603050405020304" pitchFamily="18" charset="0"/>
              </a:rPr>
              <a:t> 1,500 patient records</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Tools:</a:t>
            </a:r>
            <a:r>
              <a:rPr lang="en-IN" sz="2000" dirty="0">
                <a:latin typeface="Times New Roman" panose="02020603050405020304" pitchFamily="18" charset="0"/>
                <a:cs typeface="Times New Roman" panose="02020603050405020304" pitchFamily="18" charset="0"/>
              </a:rPr>
              <a:t> VS Code, Command Prompt / Terminal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PROBLEM STATEMENT</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r>
              <a:rPr lang="en-IN" sz="2000" b="1" dirty="0">
                <a:latin typeface="Times New Roman" panose="02020603050405020304" pitchFamily="18" charset="0"/>
                <a:cs typeface="Times New Roman" panose="02020603050405020304" pitchFamily="18" charset="0"/>
              </a:rPr>
              <a:t>In traditional disease prediction:</a:t>
            </a:r>
          </a:p>
          <a:p>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Disease risk assessment often requires </a:t>
            </a:r>
            <a:r>
              <a:rPr lang="en-IN" sz="2000" b="1" dirty="0">
                <a:latin typeface="Times New Roman" panose="02020603050405020304" pitchFamily="18" charset="0"/>
                <a:cs typeface="Times New Roman" panose="02020603050405020304" pitchFamily="18" charset="0"/>
              </a:rPr>
              <a:t>medical expertise and multiple health parameters</a:t>
            </a:r>
            <a:r>
              <a:rPr lang="en-IN" sz="2000" dirty="0">
                <a:latin typeface="Times New Roman" panose="02020603050405020304" pitchFamily="18" charset="0"/>
                <a:cs typeface="Times New Roman" panose="02020603050405020304" pitchFamily="18" charset="0"/>
              </a:rPr>
              <a:t>.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Patients may find it difficult to understand their </a:t>
            </a:r>
            <a:r>
              <a:rPr lang="en-IN" sz="2000" b="1" dirty="0">
                <a:latin typeface="Times New Roman" panose="02020603050405020304" pitchFamily="18" charset="0"/>
                <a:cs typeface="Times New Roman" panose="02020603050405020304" pitchFamily="18" charset="0"/>
              </a:rPr>
              <a:t>disease risk from everyday health information</a:t>
            </a:r>
            <a:r>
              <a:rPr lang="en-IN" sz="2000" dirty="0">
                <a:latin typeface="Times New Roman" panose="02020603050405020304" pitchFamily="18" charset="0"/>
                <a:cs typeface="Times New Roman" panose="02020603050405020304" pitchFamily="18" charset="0"/>
              </a:rPr>
              <a:t>.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factors such as </a:t>
            </a:r>
            <a:r>
              <a:rPr lang="en-IN" sz="2000" b="1" dirty="0">
                <a:latin typeface="Times New Roman" panose="02020603050405020304" pitchFamily="18" charset="0"/>
                <a:cs typeface="Times New Roman" panose="02020603050405020304" pitchFamily="18" charset="0"/>
              </a:rPr>
              <a:t>age, blood pressure, glucose, cholesterol, BMI, lifestyle, and medical history</a:t>
            </a:r>
            <a:r>
              <a:rPr lang="en-IN" sz="2000" dirty="0">
                <a:latin typeface="Times New Roman" panose="02020603050405020304" pitchFamily="18" charset="0"/>
                <a:cs typeface="Times New Roman" panose="02020603050405020304" pitchFamily="18" charset="0"/>
              </a:rPr>
              <a:t> manually can be time-consuming.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Different health conditions may show </a:t>
            </a:r>
            <a:r>
              <a:rPr lang="en-IN" sz="2000" b="1" dirty="0">
                <a:latin typeface="Times New Roman" panose="02020603050405020304" pitchFamily="18" charset="0"/>
                <a:cs typeface="Times New Roman" panose="02020603050405020304" pitchFamily="18" charset="0"/>
              </a:rPr>
              <a:t>similar or overlapping risk factors</a:t>
            </a:r>
            <a:r>
              <a:rPr lang="en-IN" sz="2000" dirty="0">
                <a:latin typeface="Times New Roman" panose="02020603050405020304" pitchFamily="18" charset="0"/>
                <a:cs typeface="Times New Roman" panose="02020603050405020304" pitchFamily="18" charset="0"/>
              </a:rPr>
              <a:t>, making early risk identification challenging.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There is a need for a </a:t>
            </a:r>
            <a:r>
              <a:rPr lang="en-IN" sz="2000" b="1" dirty="0">
                <a:latin typeface="Times New Roman" panose="02020603050405020304" pitchFamily="18" charset="0"/>
                <a:cs typeface="Times New Roman" panose="02020603050405020304" pitchFamily="18" charset="0"/>
              </a:rPr>
              <a:t>smart and simple machine learning-based system</a:t>
            </a:r>
            <a:r>
              <a:rPr lang="en-IN" sz="2000" dirty="0">
                <a:latin typeface="Times New Roman" panose="02020603050405020304" pitchFamily="18" charset="0"/>
                <a:cs typeface="Times New Roman" panose="02020603050405020304" pitchFamily="18" charset="0"/>
              </a:rPr>
              <a:t> that can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patient data and provide quick disease-risk predictions.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OBJECTIVES OF THE PROJECT</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r>
              <a:rPr lang="en-IN" sz="2000" b="1" dirty="0">
                <a:latin typeface="Times New Roman" panose="02020603050405020304" pitchFamily="18" charset="0"/>
                <a:cs typeface="Times New Roman" panose="02020603050405020304" pitchFamily="18" charset="0"/>
              </a:rPr>
              <a:t>The main objectives of the project are:</a:t>
            </a:r>
          </a:p>
          <a:p>
            <a:endParaRPr lang="en-IN" sz="2000" dirty="0">
              <a:latin typeface="Times New Roman" panose="02020603050405020304" pitchFamily="18" charset="0"/>
              <a:cs typeface="Times New Roman" panose="02020603050405020304" pitchFamily="18" charset="0"/>
            </a:endParaRP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a:t>
            </a:r>
            <a:r>
              <a:rPr lang="en-IN" sz="2000" b="1" dirty="0">
                <a:latin typeface="Times New Roman" panose="02020603050405020304" pitchFamily="18" charset="0"/>
                <a:cs typeface="Times New Roman" panose="02020603050405020304" pitchFamily="18" charset="0"/>
              </a:rPr>
              <a:t>collect and prepare patient health data</a:t>
            </a:r>
            <a:r>
              <a:rPr lang="en-IN" sz="2000" dirty="0">
                <a:latin typeface="Times New Roman" panose="02020603050405020304" pitchFamily="18" charset="0"/>
                <a:cs typeface="Times New Roman" panose="02020603050405020304" pitchFamily="18" charset="0"/>
              </a:rPr>
              <a:t> for disease prediction.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important </a:t>
            </a:r>
            <a:r>
              <a:rPr lang="en-IN" sz="2000" b="1" dirty="0">
                <a:latin typeface="Times New Roman" panose="02020603050405020304" pitchFamily="18" charset="0"/>
                <a:cs typeface="Times New Roman" panose="02020603050405020304" pitchFamily="18" charset="0"/>
              </a:rPr>
              <a:t>health, lifestyle, and medical history features</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train and evaluate </a:t>
            </a:r>
            <a:r>
              <a:rPr lang="en-IN" sz="2000" b="1" dirty="0">
                <a:latin typeface="Times New Roman" panose="02020603050405020304" pitchFamily="18" charset="0"/>
                <a:cs typeface="Times New Roman" panose="02020603050405020304" pitchFamily="18" charset="0"/>
              </a:rPr>
              <a:t>multiple Machine Learning classification models</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predict </a:t>
            </a:r>
            <a:r>
              <a:rPr lang="en-IN" sz="2000" b="1" dirty="0">
                <a:latin typeface="Times New Roman" panose="02020603050405020304" pitchFamily="18" charset="0"/>
                <a:cs typeface="Times New Roman" panose="02020603050405020304" pitchFamily="18" charset="0"/>
              </a:rPr>
              <a:t>disease risk</a:t>
            </a:r>
            <a:r>
              <a:rPr lang="en-IN" sz="2000" dirty="0">
                <a:latin typeface="Times New Roman" panose="02020603050405020304" pitchFamily="18" charset="0"/>
                <a:cs typeface="Times New Roman" panose="02020603050405020304" pitchFamily="18" charset="0"/>
              </a:rPr>
              <a:t> based on the patient's health information.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develop a </a:t>
            </a:r>
            <a:r>
              <a:rPr lang="en-IN" sz="2000" b="1" dirty="0">
                <a:latin typeface="Times New Roman" panose="02020603050405020304" pitchFamily="18" charset="0"/>
                <a:cs typeface="Times New Roman" panose="02020603050405020304" pitchFamily="18" charset="0"/>
              </a:rPr>
              <a:t>simple and fast prediction system</a:t>
            </a:r>
            <a:r>
              <a:rPr lang="en-IN" sz="2000" dirty="0">
                <a:latin typeface="Times New Roman" panose="02020603050405020304" pitchFamily="18" charset="0"/>
                <a:cs typeface="Times New Roman" panose="02020603050405020304" pitchFamily="18" charset="0"/>
              </a:rPr>
              <a:t> that provides understandable results.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support </a:t>
            </a:r>
            <a:r>
              <a:rPr lang="en-IN" sz="2000" b="1" dirty="0">
                <a:latin typeface="Times New Roman" panose="02020603050405020304" pitchFamily="18" charset="0"/>
                <a:cs typeface="Times New Roman" panose="02020603050405020304" pitchFamily="18" charset="0"/>
              </a:rPr>
              <a:t>early identification of potential disease risk</a:t>
            </a:r>
            <a:r>
              <a:rPr lang="en-IN" sz="2000" dirty="0">
                <a:latin typeface="Times New Roman" panose="02020603050405020304" pitchFamily="18" charset="0"/>
                <a:cs typeface="Times New Roman" panose="02020603050405020304" pitchFamily="18" charset="0"/>
              </a:rPr>
              <a:t> using Machine 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SCOPE OF THE PROJECT</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r>
              <a:rPr lang="en-IN" sz="2000" dirty="0">
                <a:latin typeface="Times New Roman" panose="02020603050405020304" pitchFamily="18" charset="0"/>
                <a:cs typeface="Times New Roman" panose="02020603050405020304" pitchFamily="18" charset="0"/>
              </a:rPr>
              <a:t>The scope defines where the system is applicable and what it offers.</a:t>
            </a:r>
          </a:p>
          <a:p>
            <a:endParaRPr lang="en-IN" sz="2000" dirty="0">
              <a:latin typeface="Times New Roman" panose="02020603050405020304" pitchFamily="18" charset="0"/>
              <a:cs typeface="Times New Roman" panose="02020603050405020304" pitchFamily="18" charset="0"/>
            </a:endParaRP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Disease Risk Prediction:</a:t>
            </a:r>
            <a:r>
              <a:rPr lang="en-IN" sz="2000" dirty="0">
                <a:latin typeface="Times New Roman" panose="02020603050405020304" pitchFamily="18" charset="0"/>
                <a:cs typeface="Times New Roman" panose="02020603050405020304" pitchFamily="18" charset="0"/>
              </a:rPr>
              <a:t> Uses patient health and lifestyle information to predict disease risk.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Health Awareness:</a:t>
            </a:r>
            <a:r>
              <a:rPr lang="en-IN" sz="2000" dirty="0">
                <a:latin typeface="Times New Roman" panose="02020603050405020304" pitchFamily="18" charset="0"/>
                <a:cs typeface="Times New Roman" panose="02020603050405020304" pitchFamily="18" charset="0"/>
              </a:rPr>
              <a:t> Provides a quick indication of possible disease risk based on the available data.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Machine Learning Application:</a:t>
            </a:r>
            <a:r>
              <a:rPr lang="en-IN" sz="2000" dirty="0">
                <a:latin typeface="Times New Roman" panose="02020603050405020304" pitchFamily="18" charset="0"/>
                <a:cs typeface="Times New Roman" panose="02020603050405020304" pitchFamily="18" charset="0"/>
              </a:rPr>
              <a:t> Demonstrates the complete ML process including data preprocessing, model training, and prediction.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Extendable System:</a:t>
            </a:r>
            <a:r>
              <a:rPr lang="en-IN" sz="2000" dirty="0">
                <a:latin typeface="Times New Roman" panose="02020603050405020304" pitchFamily="18" charset="0"/>
                <a:cs typeface="Times New Roman" panose="02020603050405020304" pitchFamily="18" charset="0"/>
              </a:rPr>
              <a:t> Can be enhanced with larger datasets, additional diseases, advanced ML models, and a web/mobile application.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MODULE DESCRIPTION</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r>
              <a:rPr lang="en-IN" sz="2000" dirty="0">
                <a:latin typeface="Times New Roman" panose="02020603050405020304" pitchFamily="18" charset="0"/>
                <a:cs typeface="Times New Roman" panose="02020603050405020304" pitchFamily="18" charset="0"/>
              </a:rPr>
              <a:t>The system consists of the following modules:</a:t>
            </a:r>
          </a:p>
          <a:p>
            <a:endParaRPr lang="en-IN" sz="2000" dirty="0">
              <a:latin typeface="Times New Roman" panose="02020603050405020304" pitchFamily="18" charset="0"/>
              <a:cs typeface="Times New Roman" panose="02020603050405020304" pitchFamily="18" charset="0"/>
            </a:endParaRP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Data Preprocessing Module:</a:t>
            </a:r>
            <a:r>
              <a:rPr lang="en-IN" sz="2000" dirty="0">
                <a:latin typeface="Times New Roman" panose="02020603050405020304" pitchFamily="18" charset="0"/>
                <a:cs typeface="Times New Roman" panose="02020603050405020304" pitchFamily="18" charset="0"/>
              </a:rPr>
              <a:t> Cleans and prepares the patient dataset for machine learning.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Model Training Module:</a:t>
            </a:r>
            <a:r>
              <a:rPr lang="en-IN" sz="2000" dirty="0">
                <a:latin typeface="Times New Roman" panose="02020603050405020304" pitchFamily="18" charset="0"/>
                <a:cs typeface="Times New Roman" panose="02020603050405020304" pitchFamily="18" charset="0"/>
              </a:rPr>
              <a:t> Trains Logistic Regression, Decision Tree, and Random Forest models using the processed data.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Prediction Module:</a:t>
            </a:r>
            <a:r>
              <a:rPr lang="en-IN" sz="2000" dirty="0">
                <a:latin typeface="Times New Roman" panose="02020603050405020304" pitchFamily="18" charset="0"/>
                <a:cs typeface="Times New Roman" panose="02020603050405020304" pitchFamily="18" charset="0"/>
              </a:rPr>
              <a:t> Takes patient health information as input and predicts the disease risk.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Model Evaluation Module:</a:t>
            </a:r>
            <a:r>
              <a:rPr lang="en-IN" sz="2000" dirty="0">
                <a:latin typeface="Times New Roman" panose="02020603050405020304" pitchFamily="18" charset="0"/>
                <a:cs typeface="Times New Roman" panose="02020603050405020304" pitchFamily="18" charset="0"/>
              </a:rPr>
              <a:t> Evaluates and compares the trained models using performance metrics such as Accuracy, Precision, Recall, and F1-Score.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Result Module:</a:t>
            </a:r>
            <a:r>
              <a:rPr lang="en-IN" sz="2000" dirty="0">
                <a:latin typeface="Times New Roman" panose="02020603050405020304" pitchFamily="18" charset="0"/>
                <a:cs typeface="Times New Roman" panose="02020603050405020304" pitchFamily="18" charset="0"/>
              </a:rPr>
              <a:t> Displays the final disease-risk prediction in a simple and understandable format.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DATASET DESIGN</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marL="342900" indent="-342900">
              <a:buFont typeface="Arial" panose="020B0604020202020204" pitchFamily="34" charset="0"/>
              <a:buChar char="•"/>
            </a:pPr>
            <a:r>
              <a:rPr lang="en-IN" sz="2000" b="1" dirty="0"/>
              <a:t>Dataset:</a:t>
            </a:r>
            <a:r>
              <a:rPr lang="en-IN" sz="2000" dirty="0"/>
              <a:t> </a:t>
            </a:r>
            <a:r>
              <a:rPr lang="en-IN" dirty="0"/>
              <a:t>disease_data.csv</a:t>
            </a:r>
            <a:r>
              <a:rPr lang="en-IN" sz="2000" dirty="0"/>
              <a:t> </a:t>
            </a:r>
            <a:r>
              <a:rPr lang="en-IN" sz="2000" b="1" dirty="0"/>
              <a:t>(1,500 records, 12 columns)</a:t>
            </a:r>
            <a:endParaRPr lang="en-IN" sz="2000" dirty="0"/>
          </a:p>
          <a:p>
            <a:pPr marL="342900" indent="-342900">
              <a:buFont typeface="Arial" panose="020B0604020202020204" pitchFamily="34" charset="0"/>
              <a:buChar char="•"/>
            </a:pPr>
            <a:r>
              <a:rPr lang="en-IN" sz="2000" b="1" dirty="0"/>
              <a:t>Target:</a:t>
            </a:r>
            <a:r>
              <a:rPr lang="en-IN" sz="2000" dirty="0"/>
              <a:t> </a:t>
            </a:r>
            <a:r>
              <a:rPr lang="en-IN" dirty="0"/>
              <a:t>target</a:t>
            </a:r>
            <a:r>
              <a:rPr lang="en-IN" sz="2000" dirty="0"/>
              <a:t> </a:t>
            </a:r>
            <a:r>
              <a:rPr lang="en-IN" sz="2000" b="1" dirty="0"/>
              <a:t>(0 = No Risk, 1 = Risk)</a:t>
            </a:r>
          </a:p>
          <a:p>
            <a:pPr marL="342900" indent="-342900">
              <a:buFont typeface="Arial" panose="020B0604020202020204" pitchFamily="34" charset="0"/>
              <a:buChar char="•"/>
            </a:pPr>
            <a:endParaRPr lang="en-IN" sz="2000" dirty="0"/>
          </a:p>
          <a:p>
            <a:r>
              <a:rPr lang="en-IN" sz="2000" b="1" dirty="0"/>
              <a:t>Numeric Columns:</a:t>
            </a:r>
          </a:p>
          <a:p>
            <a:pPr marL="342900" lvl="0" indent="-342900">
              <a:buFont typeface="Arial" panose="020B0604020202020204" pitchFamily="34" charset="0"/>
              <a:buChar char="•"/>
            </a:pPr>
            <a:r>
              <a:rPr lang="en-IN" sz="2000" dirty="0"/>
              <a:t>Age </a:t>
            </a:r>
          </a:p>
          <a:p>
            <a:pPr marL="342900" lvl="0" indent="-342900">
              <a:buFont typeface="Arial" panose="020B0604020202020204" pitchFamily="34" charset="0"/>
              <a:buChar char="•"/>
            </a:pPr>
            <a:r>
              <a:rPr lang="en-IN" sz="2000" dirty="0"/>
              <a:t>Blood Pressure </a:t>
            </a:r>
          </a:p>
          <a:p>
            <a:pPr marL="342900" lvl="0" indent="-342900">
              <a:buFont typeface="Arial" panose="020B0604020202020204" pitchFamily="34" charset="0"/>
              <a:buChar char="•"/>
            </a:pPr>
            <a:r>
              <a:rPr lang="en-IN" sz="2000" dirty="0"/>
              <a:t>Heart Rate </a:t>
            </a:r>
          </a:p>
          <a:p>
            <a:pPr marL="342900" lvl="0" indent="-342900">
              <a:buFont typeface="Arial" panose="020B0604020202020204" pitchFamily="34" charset="0"/>
              <a:buChar char="•"/>
            </a:pPr>
            <a:r>
              <a:rPr lang="en-IN" sz="2000" dirty="0"/>
              <a:t>Glucose </a:t>
            </a:r>
          </a:p>
          <a:p>
            <a:pPr marL="342900" lvl="0" indent="-342900">
              <a:buFont typeface="Arial" panose="020B0604020202020204" pitchFamily="34" charset="0"/>
              <a:buChar char="•"/>
            </a:pPr>
            <a:r>
              <a:rPr lang="en-IN" sz="2000" dirty="0"/>
              <a:t>Cholesterol </a:t>
            </a:r>
          </a:p>
          <a:p>
            <a:pPr marL="342900" lvl="0" indent="-342900">
              <a:buFont typeface="Arial" panose="020B0604020202020204" pitchFamily="34" charset="0"/>
              <a:buChar char="•"/>
            </a:pPr>
            <a:r>
              <a:rPr lang="en-IN" sz="2000" dirty="0"/>
              <a:t>BMI </a:t>
            </a:r>
          </a:p>
          <a:p>
            <a:pPr marL="342900" lvl="0" indent="-342900">
              <a:buFont typeface="Arial" panose="020B0604020202020204" pitchFamily="34" charset="0"/>
              <a:buChar char="•"/>
            </a:pPr>
            <a:endParaRPr lang="en-IN" sz="2000" dirty="0"/>
          </a:p>
          <a:p>
            <a:r>
              <a:rPr lang="en-IN" sz="2000" b="1" dirty="0"/>
              <a:t>Category Columns:</a:t>
            </a:r>
          </a:p>
          <a:p>
            <a:pPr marL="342900" lvl="0" indent="-342900">
              <a:buFont typeface="Arial" panose="020B0604020202020204" pitchFamily="34" charset="0"/>
              <a:buChar char="•"/>
            </a:pPr>
            <a:r>
              <a:rPr lang="en-IN" sz="2000" dirty="0"/>
              <a:t>Gender </a:t>
            </a:r>
          </a:p>
          <a:p>
            <a:pPr marL="342900" lvl="0" indent="-342900">
              <a:buFont typeface="Arial" panose="020B0604020202020204" pitchFamily="34" charset="0"/>
              <a:buChar char="•"/>
            </a:pPr>
            <a:r>
              <a:rPr lang="en-IN" sz="2000" dirty="0"/>
              <a:t>Smoking </a:t>
            </a:r>
          </a:p>
          <a:p>
            <a:pPr marL="342900" lvl="0" indent="-342900">
              <a:buFont typeface="Arial" panose="020B0604020202020204" pitchFamily="34" charset="0"/>
              <a:buChar char="•"/>
            </a:pPr>
            <a:r>
              <a:rPr lang="en-IN" sz="2000" dirty="0"/>
              <a:t>Physical Activity </a:t>
            </a:r>
          </a:p>
          <a:p>
            <a:pPr marL="342900" lvl="0" indent="-342900">
              <a:buFont typeface="Arial" panose="020B0604020202020204" pitchFamily="34" charset="0"/>
              <a:buChar char="•"/>
            </a:pPr>
            <a:endParaRPr lang="en-IN" sz="2000" dirty="0"/>
          </a:p>
          <a:p>
            <a:r>
              <a:rPr lang="en-IN" sz="2000" b="1" dirty="0"/>
              <a:t>Yes / No Columns:</a:t>
            </a:r>
          </a:p>
          <a:p>
            <a:pPr marL="342900" lvl="0" indent="-342900">
              <a:buFont typeface="Arial" panose="020B0604020202020204" pitchFamily="34" charset="0"/>
              <a:buChar char="•"/>
            </a:pPr>
            <a:r>
              <a:rPr lang="en-IN" sz="2000" dirty="0"/>
              <a:t>Family History </a:t>
            </a:r>
          </a:p>
          <a:p>
            <a:pPr marL="342900" lvl="0" indent="-342900">
              <a:buFont typeface="Arial" panose="020B0604020202020204" pitchFamily="34" charset="0"/>
              <a:buChar char="•"/>
            </a:pPr>
            <a:r>
              <a:rPr lang="en-IN" sz="2000" dirty="0"/>
              <a:t>Heart Disease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DATA PREPROCESSING</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r>
              <a:rPr lang="en-IN" sz="2000" b="1" dirty="0">
                <a:latin typeface="Times New Roman" panose="02020603050405020304" pitchFamily="18" charset="0"/>
                <a:cs typeface="Times New Roman" panose="02020603050405020304" pitchFamily="18" charset="0"/>
              </a:rPr>
              <a:t>Steps performed during data preprocessing:</a:t>
            </a:r>
          </a:p>
          <a:p>
            <a:endParaRPr lang="en-IN" sz="2000" dirty="0">
              <a:latin typeface="Times New Roman" panose="02020603050405020304" pitchFamily="18" charset="0"/>
              <a:cs typeface="Times New Roman" panose="02020603050405020304" pitchFamily="18" charset="0"/>
            </a:endParaRP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Load the Dataset:</a:t>
            </a:r>
            <a:r>
              <a:rPr lang="en-IN" sz="2000" dirty="0">
                <a:latin typeface="Times New Roman" panose="02020603050405020304" pitchFamily="18" charset="0"/>
                <a:cs typeface="Times New Roman" panose="02020603050405020304" pitchFamily="18" charset="0"/>
              </a:rPr>
              <a:t> Load the disease_data.csv containing </a:t>
            </a:r>
            <a:r>
              <a:rPr lang="en-IN" sz="2000" b="1" dirty="0">
                <a:latin typeface="Times New Roman" panose="02020603050405020304" pitchFamily="18" charset="0"/>
                <a:cs typeface="Times New Roman" panose="02020603050405020304" pitchFamily="18" charset="0"/>
              </a:rPr>
              <a:t>1,500 patient records and 12 attributes</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Check Data Quality:</a:t>
            </a:r>
            <a:r>
              <a:rPr lang="en-IN" sz="2000" dirty="0">
                <a:latin typeface="Times New Roman" panose="02020603050405020304" pitchFamily="18" charset="0"/>
                <a:cs typeface="Times New Roman" panose="02020603050405020304" pitchFamily="18" charset="0"/>
              </a:rPr>
              <a:t> Check the dataset for </a:t>
            </a:r>
            <a:r>
              <a:rPr lang="en-IN" sz="2000" b="1" dirty="0">
                <a:latin typeface="Times New Roman" panose="02020603050405020304" pitchFamily="18" charset="0"/>
                <a:cs typeface="Times New Roman" panose="02020603050405020304" pitchFamily="18" charset="0"/>
              </a:rPr>
              <a:t>missing values and duplicate records</a:t>
            </a:r>
            <a:r>
              <a:rPr lang="en-IN" sz="2000" dirty="0">
                <a:latin typeface="Times New Roman" panose="02020603050405020304" pitchFamily="18" charset="0"/>
                <a:cs typeface="Times New Roman" panose="02020603050405020304" pitchFamily="18" charset="0"/>
              </a:rPr>
              <a:t>.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Handle Missing Values:</a:t>
            </a:r>
            <a:r>
              <a:rPr lang="en-IN" sz="2000" dirty="0">
                <a:latin typeface="Times New Roman" panose="02020603050405020304" pitchFamily="18" charset="0"/>
                <a:cs typeface="Times New Roman" panose="02020603050405020304" pitchFamily="18" charset="0"/>
              </a:rPr>
              <a:t> Identify and handle missing values in numerical and categorical features appropriately.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Encode Categorical Data:</a:t>
            </a:r>
            <a:r>
              <a:rPr lang="en-IN" sz="2000" dirty="0">
                <a:latin typeface="Times New Roman" panose="02020603050405020304" pitchFamily="18" charset="0"/>
                <a:cs typeface="Times New Roman" panose="02020603050405020304" pitchFamily="18" charset="0"/>
              </a:rPr>
              <a:t> Convert categorical features such as </a:t>
            </a:r>
            <a:r>
              <a:rPr lang="en-IN" sz="2000" b="1" dirty="0">
                <a:latin typeface="Times New Roman" panose="02020603050405020304" pitchFamily="18" charset="0"/>
                <a:cs typeface="Times New Roman" panose="02020603050405020304" pitchFamily="18" charset="0"/>
              </a:rPr>
              <a:t>Gender, Smoking, and Physical Activity</a:t>
            </a:r>
            <a:r>
              <a:rPr lang="en-IN" sz="2000" dirty="0">
                <a:latin typeface="Times New Roman" panose="02020603050405020304" pitchFamily="18" charset="0"/>
                <a:cs typeface="Times New Roman" panose="02020603050405020304" pitchFamily="18" charset="0"/>
              </a:rPr>
              <a:t> into numerical form.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Feature Preparation:</a:t>
            </a:r>
            <a:r>
              <a:rPr lang="en-IN" sz="2000" dirty="0">
                <a:latin typeface="Times New Roman" panose="02020603050405020304" pitchFamily="18" charset="0"/>
                <a:cs typeface="Times New Roman" panose="02020603050405020304" pitchFamily="18" charset="0"/>
              </a:rPr>
              <a:t> Separate the input features from the </a:t>
            </a:r>
            <a:r>
              <a:rPr lang="en-IN" sz="2000" b="1" dirty="0">
                <a:latin typeface="Times New Roman" panose="02020603050405020304" pitchFamily="18" charset="0"/>
                <a:cs typeface="Times New Roman" panose="02020603050405020304" pitchFamily="18" charset="0"/>
              </a:rPr>
              <a:t>target variable</a:t>
            </a:r>
            <a:r>
              <a:rPr lang="en-IN" sz="2000" dirty="0">
                <a:latin typeface="Times New Roman" panose="02020603050405020304" pitchFamily="18" charset="0"/>
                <a:cs typeface="Times New Roman" panose="02020603050405020304" pitchFamily="18" charset="0"/>
              </a:rPr>
              <a:t> for machine learning.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Feature Scaling:</a:t>
            </a:r>
            <a:r>
              <a:rPr lang="en-IN" sz="2000" dirty="0">
                <a:latin typeface="Times New Roman" panose="02020603050405020304" pitchFamily="18" charset="0"/>
                <a:cs typeface="Times New Roman" panose="02020603050405020304" pitchFamily="18" charset="0"/>
              </a:rPr>
              <a:t> Scale numerical features where required to bring them to a common range. </a:t>
            </a:r>
          </a:p>
          <a:p>
            <a:pPr marL="457200" lvl="0" indent="-457200">
              <a:buFont typeface="+mj-lt"/>
              <a:buAutoNum type="arabicPeriod"/>
            </a:pPr>
            <a:r>
              <a:rPr lang="en-IN" sz="2000" b="1" dirty="0">
                <a:latin typeface="Times New Roman" panose="02020603050405020304" pitchFamily="18" charset="0"/>
                <a:cs typeface="Times New Roman" panose="02020603050405020304" pitchFamily="18" charset="0"/>
              </a:rPr>
              <a:t>Prepare for Training:</a:t>
            </a:r>
            <a:r>
              <a:rPr lang="en-IN" sz="2000" dirty="0">
                <a:latin typeface="Times New Roman" panose="02020603050405020304" pitchFamily="18" charset="0"/>
                <a:cs typeface="Times New Roman" panose="02020603050405020304" pitchFamily="18" charset="0"/>
              </a:rPr>
              <a:t> The processed dataset is prepared for training and testing the machine learning models.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FEATURE SELECTION</a:t>
            </a:r>
            <a:endParaRPr lang="en-US" sz="1950" dirty="0"/>
          </a:p>
        </p:txBody>
      </p:sp>
      <p:sp>
        <p:nvSpPr>
          <p:cNvPr id="4" name="Text 1"/>
          <p:cNvSpPr txBox="1"/>
          <p:nvPr/>
        </p:nvSpPr>
        <p:spPr>
          <a:xfrm>
            <a:off x="731520" y="1280160"/>
            <a:ext cx="8595360" cy="905992"/>
          </a:xfrm>
          <a:prstGeom prst="rect">
            <a:avLst/>
          </a:prstGeom>
          <a:noFill/>
          <a:ln/>
        </p:spPr>
        <p:txBody>
          <a:bodyPr wrap="square" lIns="0" tIns="0" rIns="0" bIns="0" rtlCol="0" anchor="t"/>
          <a:lstStyle/>
          <a:p>
            <a:pPr>
              <a:spcAft>
                <a:spcPts val="1400"/>
              </a:spcAft>
            </a:pPr>
            <a:r>
              <a:rPr lang="en-IN" sz="2000" dirty="0">
                <a:latin typeface="Times New Roman" panose="02020603050405020304" pitchFamily="18" charset="0"/>
                <a:cs typeface="Times New Roman" panose="02020603050405020304" pitchFamily="18" charset="0"/>
              </a:rPr>
              <a:t>The system uses the available </a:t>
            </a:r>
            <a:r>
              <a:rPr lang="en-IN" sz="2000" b="1" dirty="0">
                <a:latin typeface="Times New Roman" panose="02020603050405020304" pitchFamily="18" charset="0"/>
                <a:cs typeface="Times New Roman" panose="02020603050405020304" pitchFamily="18" charset="0"/>
              </a:rPr>
              <a:t>health, lifestyle, and medical-history attributes</a:t>
            </a:r>
            <a:r>
              <a:rPr lang="en-IN" sz="2000" dirty="0">
                <a:latin typeface="Times New Roman" panose="02020603050405020304" pitchFamily="18" charset="0"/>
                <a:cs typeface="Times New Roman" panose="02020603050405020304" pitchFamily="18" charset="0"/>
              </a:rPr>
              <a:t> to predict the target outcome.</a:t>
            </a:r>
            <a:endParaRPr lang="en-US" sz="2000" dirty="0">
              <a:latin typeface="Times New Roman" panose="02020603050405020304" pitchFamily="18" charset="0"/>
              <a:cs typeface="Times New Roman" panose="02020603050405020304" pitchFamily="18" charset="0"/>
            </a:endParaRPr>
          </a:p>
        </p:txBody>
      </p:sp>
      <p:sp>
        <p:nvSpPr>
          <p:cNvPr id="5" name="Text 2"/>
          <p:cNvSpPr txBox="1"/>
          <p:nvPr/>
        </p:nvSpPr>
        <p:spPr>
          <a:xfrm>
            <a:off x="1097280" y="2660168"/>
            <a:ext cx="3840480" cy="2743200"/>
          </a:xfrm>
          <a:prstGeom prst="rect">
            <a:avLst/>
          </a:prstGeom>
          <a:noFill/>
          <a:ln/>
        </p:spPr>
        <p:txBody>
          <a:bodyPr wrap="square" lIns="0" tIns="0" rIns="0" bIns="0" rtlCol="0" anchor="t"/>
          <a:lstStyle/>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Age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Gender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Blood Pressure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Heart Rate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Glucose </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Cholesterol</a:t>
            </a:r>
          </a:p>
        </p:txBody>
      </p:sp>
      <p:sp>
        <p:nvSpPr>
          <p:cNvPr id="6" name="Text 3"/>
          <p:cNvSpPr txBox="1"/>
          <p:nvPr/>
        </p:nvSpPr>
        <p:spPr>
          <a:xfrm>
            <a:off x="5120642" y="2660168"/>
            <a:ext cx="4206240" cy="2743200"/>
          </a:xfrm>
          <a:prstGeom prst="rect">
            <a:avLst/>
          </a:prstGeom>
          <a:noFill/>
          <a:ln/>
        </p:spPr>
        <p:txBody>
          <a:bodyPr wrap="square" lIns="0" tIns="0" rIns="0" bIns="0" rtlCol="0" anchor="t"/>
          <a:lstStyle/>
          <a:p>
            <a:pPr lvl="0"/>
            <a:r>
              <a:rPr lang="en-IN" sz="2000" dirty="0">
                <a:latin typeface="Times New Roman" panose="02020603050405020304" pitchFamily="18" charset="0"/>
                <a:cs typeface="Times New Roman" panose="02020603050405020304" pitchFamily="18" charset="0"/>
              </a:rPr>
              <a:t>6.    BMI </a:t>
            </a:r>
          </a:p>
          <a:p>
            <a:pPr lvl="0"/>
            <a:r>
              <a:rPr lang="en-IN" sz="2000" dirty="0">
                <a:latin typeface="Times New Roman" panose="02020603050405020304" pitchFamily="18" charset="0"/>
                <a:cs typeface="Times New Roman" panose="02020603050405020304" pitchFamily="18" charset="0"/>
              </a:rPr>
              <a:t>7.    Smoking </a:t>
            </a:r>
          </a:p>
          <a:p>
            <a:pPr lvl="0"/>
            <a:r>
              <a:rPr lang="en-IN" sz="2000" dirty="0">
                <a:latin typeface="Times New Roman" panose="02020603050405020304" pitchFamily="18" charset="0"/>
                <a:cs typeface="Times New Roman" panose="02020603050405020304" pitchFamily="18" charset="0"/>
              </a:rPr>
              <a:t>8.    Physical Activity </a:t>
            </a:r>
          </a:p>
          <a:p>
            <a:pPr lvl="0"/>
            <a:r>
              <a:rPr lang="en-IN" sz="2000" dirty="0">
                <a:latin typeface="Times New Roman" panose="02020603050405020304" pitchFamily="18" charset="0"/>
                <a:cs typeface="Times New Roman" panose="02020603050405020304" pitchFamily="18" charset="0"/>
              </a:rPr>
              <a:t>9.    Family History </a:t>
            </a:r>
          </a:p>
          <a:p>
            <a:pPr lvl="0"/>
            <a:r>
              <a:rPr lang="en-IN" sz="2000" dirty="0">
                <a:latin typeface="Times New Roman" panose="02020603050405020304" pitchFamily="18" charset="0"/>
                <a:cs typeface="Times New Roman" panose="02020603050405020304" pitchFamily="18" charset="0"/>
              </a:rPr>
              <a:t>10.  Heart Disease</a:t>
            </a:r>
          </a:p>
        </p:txBody>
      </p:sp>
      <p:sp>
        <p:nvSpPr>
          <p:cNvPr id="7" name="Text 4"/>
          <p:cNvSpPr txBox="1"/>
          <p:nvPr/>
        </p:nvSpPr>
        <p:spPr>
          <a:xfrm>
            <a:off x="731520" y="6035040"/>
            <a:ext cx="8595360" cy="548640"/>
          </a:xfrm>
          <a:prstGeom prst="rect">
            <a:avLst/>
          </a:prstGeom>
          <a:noFill/>
          <a:ln/>
        </p:spPr>
        <p:txBody>
          <a:bodyPr wrap="square" lIns="0" tIns="0" rIns="0" bIns="0" rtlCol="0" anchor="ctr"/>
          <a:lstStyle/>
          <a:p>
            <a:pPr marL="0" indent="0">
              <a:buNone/>
            </a:pPr>
            <a:r>
              <a:rPr lang="en-US" sz="2000" dirty="0">
                <a:solidFill>
                  <a:srgbClr val="000000"/>
                </a:solidFill>
                <a:latin typeface="Times New Roman" pitchFamily="34" charset="0"/>
                <a:ea typeface="Times New Roman" pitchFamily="34" charset="-122"/>
                <a:cs typeface="Times New Roman" pitchFamily="34" charset="-120"/>
              </a:rPr>
              <a:t>Weight is also asked (with Height) only to calculate and display BMI.</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MODEL TRAINING</a:t>
            </a:r>
            <a:endParaRPr lang="en-US" sz="1950" dirty="0"/>
          </a:p>
        </p:txBody>
      </p:sp>
      <p:sp>
        <p:nvSpPr>
          <p:cNvPr id="4" name="Text 1"/>
          <p:cNvSpPr txBox="1"/>
          <p:nvPr/>
        </p:nvSpPr>
        <p:spPr>
          <a:xfrm>
            <a:off x="731520" y="1205627"/>
            <a:ext cx="8595360" cy="1280160"/>
          </a:xfrm>
          <a:prstGeom prst="rect">
            <a:avLst/>
          </a:prstGeom>
          <a:noFill/>
          <a:ln/>
        </p:spPr>
        <p:txBody>
          <a:bodyPr wrap="square" lIns="0" tIns="0" rIns="0" bIns="0" rtlCol="0" anchor="t"/>
          <a:lstStyle/>
          <a:p>
            <a:pPr>
              <a:spcAft>
                <a:spcPts val="1400"/>
              </a:spcAft>
            </a:pPr>
            <a:r>
              <a:rPr lang="en-IN" sz="2000" dirty="0">
                <a:latin typeface="Times New Roman" panose="02020603050405020304" pitchFamily="18" charset="0"/>
                <a:cs typeface="Times New Roman" panose="02020603050405020304" pitchFamily="18" charset="0"/>
              </a:rPr>
              <a:t>The dataset is divided into </a:t>
            </a:r>
            <a:r>
              <a:rPr lang="en-IN" sz="2000" b="1" dirty="0">
                <a:latin typeface="Times New Roman" panose="02020603050405020304" pitchFamily="18" charset="0"/>
                <a:cs typeface="Times New Roman" panose="02020603050405020304" pitchFamily="18" charset="0"/>
              </a:rPr>
              <a:t>80% training and 20% testing</a:t>
            </a:r>
            <a:r>
              <a:rPr lang="en-IN" sz="2000" dirty="0">
                <a:latin typeface="Times New Roman" panose="02020603050405020304" pitchFamily="18" charset="0"/>
                <a:cs typeface="Times New Roman" panose="02020603050405020304" pitchFamily="18" charset="0"/>
              </a:rPr>
              <a:t> using a stratified split, and the data is scaled before training.</a:t>
            </a:r>
            <a:endParaRPr lang="en-US" sz="2000" dirty="0">
              <a:latin typeface="Times New Roman" panose="02020603050405020304" pitchFamily="18" charset="0"/>
              <a:cs typeface="Times New Roman" panose="02020603050405020304" pitchFamily="18" charset="0"/>
            </a:endParaRPr>
          </a:p>
        </p:txBody>
      </p:sp>
      <p:sp>
        <p:nvSpPr>
          <p:cNvPr id="6" name="Text 2"/>
          <p:cNvSpPr txBox="1"/>
          <p:nvPr/>
        </p:nvSpPr>
        <p:spPr>
          <a:xfrm>
            <a:off x="731520" y="5812130"/>
            <a:ext cx="8595360" cy="1828800"/>
          </a:xfrm>
          <a:prstGeom prst="rect">
            <a:avLst/>
          </a:prstGeom>
          <a:noFill/>
          <a:ln/>
        </p:spPr>
        <p:txBody>
          <a:bodyPr wrap="square" lIns="0" tIns="0" rIns="0" bIns="0" rtlCol="0" anchor="t"/>
          <a:lstStyle/>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Accuracy, Precision, Recall, F1-Score, and ROC-AUC</a:t>
            </a:r>
            <a:r>
              <a:rPr lang="en-IN" sz="2000" dirty="0">
                <a:latin typeface="Times New Roman" panose="02020603050405020304" pitchFamily="18" charset="0"/>
                <a:cs typeface="Times New Roman" panose="02020603050405020304" pitchFamily="18" charset="0"/>
              </a:rPr>
              <a:t> are used to evaluate the classification models.</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Confusion Matrix and Classification Report</a:t>
            </a:r>
            <a:r>
              <a:rPr lang="en-IN" sz="2000" dirty="0">
                <a:latin typeface="Times New Roman" panose="02020603050405020304" pitchFamily="18" charset="0"/>
                <a:cs typeface="Times New Roman" panose="02020603050405020304" pitchFamily="18" charset="0"/>
              </a:rPr>
              <a:t> are generated for model evaluation.</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Ensemble model</a:t>
            </a:r>
            <a:r>
              <a:rPr lang="en-IN" sz="2000" dirty="0">
                <a:latin typeface="Times New Roman" panose="02020603050405020304" pitchFamily="18" charset="0"/>
                <a:cs typeface="Times New Roman" panose="02020603050405020304" pitchFamily="18" charset="0"/>
              </a:rPr>
              <a:t> combines the predictions of multiple models to produce the final prediction.</a:t>
            </a:r>
          </a:p>
          <a:p>
            <a:pPr marL="342900" indent="-342900" algn="l">
              <a:spcAft>
                <a:spcPts val="1400"/>
              </a:spcAft>
              <a:buSzPct val="100000"/>
              <a:buChar char="•"/>
            </a:pP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E83BC8C-FA61-299C-71AD-5AEE4571B0F5}"/>
              </a:ext>
            </a:extLst>
          </p:cNvPr>
          <p:cNvPicPr>
            <a:picLocks noChangeAspect="1"/>
          </p:cNvPicPr>
          <p:nvPr/>
        </p:nvPicPr>
        <p:blipFill>
          <a:blip r:embed="rId4"/>
          <a:stretch>
            <a:fillRect/>
          </a:stretch>
        </p:blipFill>
        <p:spPr>
          <a:xfrm>
            <a:off x="731520" y="1845707"/>
            <a:ext cx="8432145" cy="39034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CONSOLE INPUT</a:t>
            </a:r>
            <a:endParaRPr lang="en-US" sz="1950" dirty="0"/>
          </a:p>
        </p:txBody>
      </p:sp>
      <p:sp>
        <p:nvSpPr>
          <p:cNvPr id="4" name="Text 1"/>
          <p:cNvSpPr txBox="1"/>
          <p:nvPr/>
        </p:nvSpPr>
        <p:spPr>
          <a:xfrm>
            <a:off x="529961" y="1164546"/>
            <a:ext cx="8595360" cy="1645920"/>
          </a:xfrm>
          <a:prstGeom prst="rect">
            <a:avLst/>
          </a:prstGeom>
          <a:noFill/>
          <a:ln/>
        </p:spPr>
        <p:txBody>
          <a:bodyPr wrap="square" lIns="0" tIns="0" rIns="0" bIns="0" rtlCol="0" anchor="t"/>
          <a:lstStyle/>
          <a:p>
            <a:pPr>
              <a:spcAft>
                <a:spcPts val="1400"/>
              </a:spcAft>
            </a:pPr>
            <a:r>
              <a:rPr lang="en-IN" sz="2000" b="1" dirty="0">
                <a:latin typeface="Times New Roman" panose="02020603050405020304" pitchFamily="18" charset="0"/>
                <a:cs typeface="Times New Roman" panose="02020603050405020304" pitchFamily="18" charset="0"/>
              </a:rPr>
              <a:t>predict.py</a:t>
            </a:r>
            <a:r>
              <a:rPr lang="en-IN" sz="2000" dirty="0">
                <a:latin typeface="Times New Roman" panose="02020603050405020304" pitchFamily="18" charset="0"/>
                <a:cs typeface="Times New Roman" panose="02020603050405020304" pitchFamily="18" charset="0"/>
              </a:rPr>
              <a:t> collects patient health information through simple questions. Age, gender, blood pressure, heart rate, glucose, cholesterol, BMI, smoking, physical activity, family history, and heart disease details are processed and passed to the trained models to generate the disease-risk prediction.</a:t>
            </a:r>
            <a:endParaRPr lang="en-US"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65B848D-FD6E-BB89-9BA5-F8C7F838BAFD}"/>
              </a:ext>
            </a:extLst>
          </p:cNvPr>
          <p:cNvPicPr>
            <a:picLocks noChangeAspect="1"/>
          </p:cNvPicPr>
          <p:nvPr/>
        </p:nvPicPr>
        <p:blipFill>
          <a:blip r:embed="rId4"/>
          <a:stretch>
            <a:fillRect/>
          </a:stretch>
        </p:blipFill>
        <p:spPr>
          <a:xfrm>
            <a:off x="392028" y="2448231"/>
            <a:ext cx="4986217" cy="4516715"/>
          </a:xfrm>
          <a:prstGeom prst="rect">
            <a:avLst/>
          </a:prstGeom>
        </p:spPr>
      </p:pic>
      <p:pic>
        <p:nvPicPr>
          <p:cNvPr id="9" name="Picture 8">
            <a:extLst>
              <a:ext uri="{FF2B5EF4-FFF2-40B4-BE49-F238E27FC236}">
                <a16:creationId xmlns:a16="http://schemas.microsoft.com/office/drawing/2014/main" id="{FF84F75C-572E-428F-B465-95F5757F10DF}"/>
              </a:ext>
            </a:extLst>
          </p:cNvPr>
          <p:cNvPicPr>
            <a:picLocks noChangeAspect="1"/>
          </p:cNvPicPr>
          <p:nvPr/>
        </p:nvPicPr>
        <p:blipFill>
          <a:blip r:embed="rId5"/>
          <a:stretch>
            <a:fillRect/>
          </a:stretch>
        </p:blipFill>
        <p:spPr>
          <a:xfrm>
            <a:off x="5230760" y="2448230"/>
            <a:ext cx="4504197" cy="45167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CONSOLE OUTPUT</a:t>
            </a:r>
            <a:endParaRPr lang="en-US" sz="1950" dirty="0"/>
          </a:p>
        </p:txBody>
      </p:sp>
      <p:sp>
        <p:nvSpPr>
          <p:cNvPr id="4" name="Text 1"/>
          <p:cNvSpPr txBox="1"/>
          <p:nvPr/>
        </p:nvSpPr>
        <p:spPr>
          <a:xfrm>
            <a:off x="731520" y="1280160"/>
            <a:ext cx="8595360" cy="2194560"/>
          </a:xfrm>
          <a:prstGeom prst="rect">
            <a:avLst/>
          </a:prstGeom>
          <a:noFill/>
          <a:ln/>
        </p:spPr>
        <p:txBody>
          <a:bodyPr wrap="square" lIns="0" tIns="0" rIns="0" bIns="0" rtlCol="0" anchor="t"/>
          <a:lstStyle/>
          <a:p>
            <a:pPr>
              <a:spcAft>
                <a:spcPts val="1400"/>
              </a:spcAft>
            </a:pPr>
            <a:r>
              <a:rPr lang="en-IN" sz="2000" dirty="0">
                <a:latin typeface="Times New Roman" panose="02020603050405020304" pitchFamily="18" charset="0"/>
                <a:cs typeface="Times New Roman" panose="02020603050405020304" pitchFamily="18" charset="0"/>
              </a:rPr>
              <a:t>The final risk % is generated from the combined model predictions. Risk of 50% or more is classified as HIGH RISK, otherwise LOW RISK, with a matching risk summary.</a:t>
            </a:r>
            <a:endParaRPr lang="en-US"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3FE15A1-8DD1-7049-DF82-32474258D8DB}"/>
              </a:ext>
            </a:extLst>
          </p:cNvPr>
          <p:cNvPicPr>
            <a:picLocks noChangeAspect="1"/>
          </p:cNvPicPr>
          <p:nvPr/>
        </p:nvPicPr>
        <p:blipFill>
          <a:blip r:embed="rId4"/>
          <a:stretch>
            <a:fillRect/>
          </a:stretch>
        </p:blipFill>
        <p:spPr>
          <a:xfrm>
            <a:off x="677803" y="2674374"/>
            <a:ext cx="8702794" cy="46068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CONCLUSION</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Smart Disease Prediction System</a:t>
            </a:r>
            <a:r>
              <a:rPr lang="en-IN" sz="2000" dirty="0">
                <a:latin typeface="Times New Roman" panose="02020603050405020304" pitchFamily="18" charset="0"/>
                <a:cs typeface="Times New Roman" panose="02020603050405020304" pitchFamily="18" charset="0"/>
              </a:rPr>
              <a:t> demonstrates a complete Machine Learning pipeline for predicting disease risk from patient health and lifestyle data.</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dataset was </a:t>
            </a:r>
            <a:r>
              <a:rPr lang="en-IN" sz="2000" b="1" dirty="0">
                <a:latin typeface="Times New Roman" panose="02020603050405020304" pitchFamily="18" charset="0"/>
                <a:cs typeface="Times New Roman" panose="02020603050405020304" pitchFamily="18" charset="0"/>
              </a:rPr>
              <a:t>processed and prepared</a:t>
            </a:r>
            <a:r>
              <a:rPr lang="en-IN" sz="2000" dirty="0">
                <a:latin typeface="Times New Roman" panose="02020603050405020304" pitchFamily="18" charset="0"/>
                <a:cs typeface="Times New Roman" panose="02020603050405020304" pitchFamily="18" charset="0"/>
              </a:rPr>
              <a:t> for machine learning prediction.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Multiple ML models including </a:t>
            </a:r>
            <a:r>
              <a:rPr lang="en-IN" sz="2000" b="1" dirty="0">
                <a:latin typeface="Times New Roman" panose="02020603050405020304" pitchFamily="18" charset="0"/>
                <a:cs typeface="Times New Roman" panose="02020603050405020304" pitchFamily="18" charset="0"/>
              </a:rPr>
              <a:t>Logistic Regression, Decision Tree, and Random Forest</a:t>
            </a:r>
            <a:r>
              <a:rPr lang="en-IN" sz="2000" dirty="0">
                <a:latin typeface="Times New Roman" panose="02020603050405020304" pitchFamily="18" charset="0"/>
                <a:cs typeface="Times New Roman" panose="02020603050405020304" pitchFamily="18" charset="0"/>
              </a:rPr>
              <a:t> were trained and evaluated.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important </a:t>
            </a:r>
            <a:r>
              <a:rPr lang="en-IN" sz="2000" b="1" dirty="0">
                <a:latin typeface="Times New Roman" panose="02020603050405020304" pitchFamily="18" charset="0"/>
                <a:cs typeface="Times New Roman" panose="02020603050405020304" pitchFamily="18" charset="0"/>
              </a:rPr>
              <a:t>health, lifestyle, and medical-history parameters</a:t>
            </a:r>
            <a:r>
              <a:rPr lang="en-IN" sz="2000" dirty="0">
                <a:latin typeface="Times New Roman" panose="02020603050405020304" pitchFamily="18" charset="0"/>
                <a:cs typeface="Times New Roman" panose="02020603050405020304" pitchFamily="18" charset="0"/>
              </a:rPr>
              <a:t> to generate a disease-risk prediction.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provides a </a:t>
            </a:r>
            <a:r>
              <a:rPr lang="en-IN" sz="2000" b="1" dirty="0">
                <a:latin typeface="Times New Roman" panose="02020603050405020304" pitchFamily="18" charset="0"/>
                <a:cs typeface="Times New Roman" panose="02020603050405020304" pitchFamily="18" charset="0"/>
              </a:rPr>
              <a:t>simple and quick prediction</a:t>
            </a:r>
            <a:r>
              <a:rPr lang="en-IN" sz="2000" dirty="0">
                <a:latin typeface="Times New Roman" panose="02020603050405020304" pitchFamily="18" charset="0"/>
                <a:cs typeface="Times New Roman" panose="02020603050405020304" pitchFamily="18" charset="0"/>
              </a:rPr>
              <a:t> based on the given patient information.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project demonstrates how </a:t>
            </a:r>
            <a:r>
              <a:rPr lang="en-IN" sz="2000" b="1" dirty="0">
                <a:latin typeface="Times New Roman" panose="02020603050405020304" pitchFamily="18" charset="0"/>
                <a:cs typeface="Times New Roman" panose="02020603050405020304" pitchFamily="18" charset="0"/>
              </a:rPr>
              <a:t>Machine Learning can be applied to healthcare data</a:t>
            </a:r>
            <a:r>
              <a:rPr lang="en-IN" sz="2000" dirty="0">
                <a:latin typeface="Times New Roman" panose="02020603050405020304" pitchFamily="18" charset="0"/>
                <a:cs typeface="Times New Roman" panose="02020603050405020304" pitchFamily="18" charset="0"/>
              </a:rPr>
              <a:t> for preliminary disease-risk prediction.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can be further improved using </a:t>
            </a:r>
            <a:r>
              <a:rPr lang="en-IN" sz="2000" b="1" dirty="0">
                <a:latin typeface="Times New Roman" panose="02020603050405020304" pitchFamily="18" charset="0"/>
                <a:cs typeface="Times New Roman" panose="02020603050405020304" pitchFamily="18" charset="0"/>
              </a:rPr>
              <a:t>larger datasets, additional disease parameters, and advanced ML models</a:t>
            </a:r>
            <a:r>
              <a:rPr lang="en-IN" sz="20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FUTURE ENHANCEMENTS</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1.  </a:t>
            </a:r>
            <a:r>
              <a:rPr lang="en-US" sz="2000" b="1" dirty="0">
                <a:solidFill>
                  <a:srgbClr val="000000"/>
                </a:solidFill>
                <a:latin typeface="Times New Roman" pitchFamily="34" charset="0"/>
                <a:ea typeface="Times New Roman" pitchFamily="34" charset="-122"/>
                <a:cs typeface="Times New Roman" pitchFamily="34" charset="-120"/>
              </a:rPr>
              <a:t>Real Clinical Data:</a:t>
            </a:r>
            <a:r>
              <a:rPr lang="en-US" sz="2000" dirty="0">
                <a:solidFill>
                  <a:srgbClr val="000000"/>
                </a:solidFill>
                <a:latin typeface="Times New Roman" pitchFamily="34" charset="0"/>
                <a:ea typeface="Times New Roman" pitchFamily="34" charset="-122"/>
                <a:cs typeface="Times New Roman" pitchFamily="34" charset="-120"/>
              </a:rPr>
              <a:t> Train on a real-world dataset to test true accuracy.</a:t>
            </a:r>
            <a:endParaRPr lang="en-US" sz="2000" dirty="0"/>
          </a:p>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2.  </a:t>
            </a:r>
            <a:r>
              <a:rPr lang="en-US" sz="2000" b="1" dirty="0">
                <a:solidFill>
                  <a:srgbClr val="000000"/>
                </a:solidFill>
                <a:latin typeface="Times New Roman" pitchFamily="34" charset="0"/>
                <a:ea typeface="Times New Roman" pitchFamily="34" charset="-122"/>
                <a:cs typeface="Times New Roman" pitchFamily="34" charset="-120"/>
              </a:rPr>
              <a:t>Cross-Validation and Tuning:</a:t>
            </a:r>
            <a:r>
              <a:rPr lang="en-US" sz="2000" dirty="0">
                <a:solidFill>
                  <a:srgbClr val="000000"/>
                </a:solidFill>
                <a:latin typeface="Times New Roman" pitchFamily="34" charset="0"/>
                <a:ea typeface="Times New Roman" pitchFamily="34" charset="-122"/>
                <a:cs typeface="Times New Roman" pitchFamily="34" charset="-120"/>
              </a:rPr>
              <a:t> Check for overfitting and tune model settings.</a:t>
            </a:r>
            <a:endParaRPr lang="en-US" sz="2000" dirty="0"/>
          </a:p>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3.  </a:t>
            </a:r>
            <a:r>
              <a:rPr lang="en-US" sz="2000" b="1" dirty="0">
                <a:solidFill>
                  <a:srgbClr val="000000"/>
                </a:solidFill>
                <a:latin typeface="Times New Roman" pitchFamily="34" charset="0"/>
                <a:ea typeface="Times New Roman" pitchFamily="34" charset="-122"/>
                <a:cs typeface="Times New Roman" pitchFamily="34" charset="-120"/>
              </a:rPr>
              <a:t>More Models:</a:t>
            </a:r>
            <a:r>
              <a:rPr lang="en-US" sz="2000" dirty="0">
                <a:solidFill>
                  <a:srgbClr val="000000"/>
                </a:solidFill>
                <a:latin typeface="Times New Roman" pitchFamily="34" charset="0"/>
                <a:ea typeface="Times New Roman" pitchFamily="34" charset="-122"/>
                <a:cs typeface="Times New Roman" pitchFamily="34" charset="-120"/>
              </a:rPr>
              <a:t> Try XGBoost, SVM or neural networks.</a:t>
            </a:r>
            <a:endParaRPr lang="en-US" sz="2000" dirty="0"/>
          </a:p>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4.  </a:t>
            </a:r>
            <a:r>
              <a:rPr lang="en-US" sz="2000" b="1" dirty="0">
                <a:solidFill>
                  <a:srgbClr val="000000"/>
                </a:solidFill>
                <a:latin typeface="Times New Roman" pitchFamily="34" charset="0"/>
                <a:ea typeface="Times New Roman" pitchFamily="34" charset="-122"/>
                <a:cs typeface="Times New Roman" pitchFamily="34" charset="-120"/>
              </a:rPr>
              <a:t>Explainability:</a:t>
            </a:r>
            <a:r>
              <a:rPr lang="en-US" sz="2000" dirty="0">
                <a:solidFill>
                  <a:srgbClr val="000000"/>
                </a:solidFill>
                <a:latin typeface="Times New Roman" pitchFamily="34" charset="0"/>
                <a:ea typeface="Times New Roman" pitchFamily="34" charset="-122"/>
                <a:cs typeface="Times New Roman" pitchFamily="34" charset="-120"/>
              </a:rPr>
              <a:t> Show which factors raised the user's risk.</a:t>
            </a:r>
            <a:endParaRPr lang="en-US" sz="2000" dirty="0"/>
          </a:p>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5.  </a:t>
            </a:r>
            <a:r>
              <a:rPr lang="en-US" sz="2000" b="1" dirty="0">
                <a:solidFill>
                  <a:srgbClr val="000000"/>
                </a:solidFill>
                <a:latin typeface="Times New Roman" pitchFamily="34" charset="0"/>
                <a:ea typeface="Times New Roman" pitchFamily="34" charset="-122"/>
                <a:cs typeface="Times New Roman" pitchFamily="34" charset="-120"/>
              </a:rPr>
              <a:t>User Interface:</a:t>
            </a:r>
            <a:r>
              <a:rPr lang="en-US" sz="2000" dirty="0">
                <a:solidFill>
                  <a:srgbClr val="000000"/>
                </a:solidFill>
                <a:latin typeface="Times New Roman" pitchFamily="34" charset="0"/>
                <a:ea typeface="Times New Roman" pitchFamily="34" charset="-122"/>
                <a:cs typeface="Times New Roman" pitchFamily="34" charset="-120"/>
              </a:rPr>
              <a:t> Build a web or mobile app (Streamlit / Flask) instead of the console.</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txBox="1"/>
          <p:nvPr/>
        </p:nvSpPr>
        <p:spPr>
          <a:xfrm>
            <a:off x="1828800" y="3291840"/>
            <a:ext cx="6400800" cy="1097280"/>
          </a:xfrm>
          <a:prstGeom prst="rect">
            <a:avLst/>
          </a:prstGeom>
          <a:noFill/>
          <a:ln/>
        </p:spPr>
        <p:txBody>
          <a:bodyPr wrap="square" lIns="0" tIns="0" rIns="0" bIns="0" rtlCol="0" anchor="ctr"/>
          <a:lstStyle/>
          <a:p>
            <a:pPr marL="0" indent="0" algn="ctr">
              <a:buNone/>
            </a:pPr>
            <a:r>
              <a:rPr lang="en-US" sz="4800" b="1" dirty="0">
                <a:solidFill>
                  <a:srgbClr val="7030A0"/>
                </a:solidFill>
                <a:latin typeface="Times New Roman" pitchFamily="34" charset="0"/>
                <a:ea typeface="Times New Roman" pitchFamily="34" charset="-122"/>
                <a:cs typeface="Times New Roman" pitchFamily="34" charset="-120"/>
              </a:rPr>
              <a:t>THANK YOU</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1165</Words>
  <Application>Microsoft Office PowerPoint</Application>
  <PresentationFormat>Custom</PresentationFormat>
  <Paragraphs>144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Book Antiqua</vt:lpstr>
      <vt:lpstr>Centaur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Krishna Manohar</cp:lastModifiedBy>
  <cp:revision>8</cp:revision>
  <dcterms:created xsi:type="dcterms:W3CDTF">2026-09-28T15:24:03Z</dcterms:created>
  <dcterms:modified xsi:type="dcterms:W3CDTF">2026-10-27T03:44:48Z</dcterms:modified>
</cp:coreProperties>
</file>